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ARRANQUE (5 min)</a:t>
            </a:r>
          </a:p>
          <a:p/>
          <a:p>
            <a:r>
              <a:t>Presentate: nombre, a qué te dedicás, y que vas a acompañarlos estas 40 horas.</a:t>
            </a:r>
          </a:p>
          <a:p/>
          <a:p>
            <a:r>
              <a:t>Ronda rápida, uno por uno: nombre, qué administran hoy, y si han tocado Linux antes. Anotá quién tiene experiencia: esos te van a ayudar con los demás cuando alguien se trabe.</a:t>
            </a:r>
          </a:p>
          <a:p/>
          <a:p>
            <a:r>
              <a:t>Reglas de trabajo, decilas explícitas:</a:t>
            </a:r>
          </a:p>
          <a:p>
            <a:r>
              <a:t>- Pregunten en cualquier momento, no esperen al final.</a:t>
            </a:r>
          </a:p>
          <a:p>
            <a:r>
              <a:t>- Cámara si se puede, ayuda mucho.</a:t>
            </a:r>
          </a:p>
          <a:p>
            <a:r>
              <a:t>- Cada tanto voy a pedir un CHECKPOINT: ustedes corren un comando y pegan la salida en el chat. Así confirmo que nadie se quedó atrás. Si a alguien no le sale, lo resolvemos ahí mismo.</a:t>
            </a:r>
          </a:p>
          <a:p>
            <a:r>
              <a:t>- Todo lo que hagamos queda en su servidor. Lo que construimos hoy lo vamos a seguir usando el día 10.</a:t>
            </a:r>
          </a:p>
          <a:p/>
          <a:p>
            <a:r>
              <a:t>Sondeo antes de arrancar: ¿quién tiene la ISO descargada? ¿quién instaló el virtualizador? ¿quién creó la cuenta de Red Hat? Al que le falte algo, que lo ponga a descargar AHORA mientras damos los conceptos.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LINUX (3 min)</a:t>
            </a:r>
          </a:p>
          <a:p/>
          <a:p>
            <a:r>
              <a:t>La idea: cuando la gente dice "Linux" se refiere al sistema completo, pero en sentido estricto Linux es solo el KERNEL, el núcleo.</a:t>
            </a:r>
          </a:p>
          <a:p/>
          <a:p>
            <a:r>
              <a:t>Qué es el kernel: el programa que arranca primero cuando prendés la máquina, y que se queda en medio entre el hardware y todos los demás programas. Nadie habla con el disco directamente; le piden al kernel que lo haga.</a:t>
            </a:r>
          </a:p>
          <a:p/>
          <a:p>
            <a:r>
              <a:t>Qué reparte: CPU, memoria, disco y red. Si tenés 50 programas abiertos, el kernel decide a cuál le toca el procesador en cada instante.</a:t>
            </a:r>
          </a:p>
          <a:p/>
          <a:p>
            <a:r>
              <a:t>Historia en una línea: lo empezó Linus Torvalds en 1991, siendo estudiante en Finlandia.</a:t>
            </a:r>
          </a:p>
          <a:p/>
          <a:p>
            <a:r>
              <a:t>Y el punto que conecta con la siguiente lámina: un kernel solo no le sirve a nadie. No trae ni siquiera un comando para listar archivos. Es un motor sin carrocería.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GNU/LINUX (2 min)</a:t>
            </a:r>
          </a:p>
          <a:p/>
          <a:p>
            <a:r>
              <a:t>Todo lo que uno escribe en la terminal (ls, cp, grep, la propia shell bash, el compilador) no es parte de Linux. Viene del proyecto GNU.</a:t>
            </a:r>
          </a:p>
          <a:p/>
          <a:p>
            <a:r>
              <a:t>GNU es anterior: arrancó en 1983, con Richard Stallman, con la idea de construir un sistema operativo completo y libre. Tenían todas las piezas menos el núcleo.</a:t>
            </a:r>
          </a:p>
          <a:p/>
          <a:p>
            <a:r>
              <a:t>En 1991 apareció el kernel de Linus y encajó justo en ese hueco. Las dos mitades se juntaron y formaron un sistema completo.</a:t>
            </a:r>
          </a:p>
          <a:p/>
          <a:p>
            <a:r>
              <a:t>Por eso el nombre técnicamente correcto es GNU/Linux.</a:t>
            </a:r>
          </a:p>
          <a:p/>
          <a:p>
            <a:r>
              <a:t>Cierre honesto: en una sala de servidores nadie dice GNU/Linux, todos dicen Linux, y está bien. Pero conviene saber de dónde viene cada pieza, porque explica por qué los comandos se comportan igual en Ubuntu, en Red Hat y en un Mac.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UNA DISTRIBUCIÓN (3 min)</a:t>
            </a:r>
          </a:p>
          <a:p/>
          <a:p>
            <a:r>
              <a:t>Una distribución es el paquete completo: kernel, más las herramientas GNU, más un gestor de paquetes, más un instalador, más una política de actualizaciones, y a veces soporte comercial.</a:t>
            </a:r>
          </a:p>
          <a:p/>
          <a:p>
            <a:r>
              <a:t>La analogía que funciona: el kernel es el motor; la distribución es el auto completo, con carrocería, garantía y taller.</a:t>
            </a:r>
          </a:p>
          <a:p/>
          <a:p>
            <a:r>
              <a:t>Todas usan el mismo kernel. Lo que cambia es la carrocería.</a:t>
            </a:r>
          </a:p>
          <a:p/>
          <a:p>
            <a:r>
              <a:t>Lo que de verdad distingue a una distribución empresarial son tres cosas:</a:t>
            </a:r>
          </a:p>
          <a:p>
            <a:r>
              <a:t>1. El gestor de paquetes: apt en Debian y Ubuntu, dnf en la familia Red Hat, zypper en SUSE.</a:t>
            </a:r>
          </a:p>
          <a:p>
            <a:r>
              <a:t>2. La política de actualizaciones: cada cuánto cambian las cosas y cuánto se rompen.</a:t>
            </a:r>
          </a:p>
          <a:p>
            <a:r>
              <a:t>3. Si hay alguien que responde el teléfono cuando algo falla.</a:t>
            </a:r>
          </a:p>
          <a:p/>
          <a:p>
            <a:r>
              <a:t>Preguntales: ¿alguno ha usado Ubuntu? Si sí, decíles que lo que aprendan acá les sirve, que lo único que cambia de verdad es apt por dnf.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FAMILIA RED HAT (4 min)</a:t>
            </a:r>
          </a:p>
          <a:p/>
          <a:p>
            <a:r>
              <a:t>Explicá la tubería de izquierda a derecha, es una línea de producción:</a:t>
            </a:r>
          </a:p>
          <a:p/>
          <a:p>
            <a:r>
              <a:t>FEDORA es el laboratorio. Versión nueva cada seis meses. Ahí Red Hat prueba tecnología nueva con la comunidad. Es inestable a propósito.</a:t>
            </a:r>
          </a:p>
          <a:p/>
          <a:p>
            <a:r>
              <a:t>CENTOS STREAM es la vista previa de la próxima versión menor de RHEL. Lo que está ahí hoy, llega a RHEL en unos meses.</a:t>
            </a:r>
          </a:p>
          <a:p/>
          <a:p>
            <a:r>
              <a:t>RHEL es el producto. Estable, certificado, con diez años de soporte. Lo que llega acá pasó dos o tres años probándose antes.</a:t>
            </a:r>
          </a:p>
          <a:p/>
          <a:p>
            <a:r>
              <a:t>ROCKY Y ALMALINUX son reconstrucciones. Toman el código fuente de RHEL, que es público, y lo compilan otra vez. Son compatibles pero sin soporte de Red Hat.</a:t>
            </a:r>
          </a:p>
          <a:p/>
          <a:p>
            <a:r>
              <a:t>EL PUNTO IMPORTANTE, decilo despacio:</a:t>
            </a:r>
          </a:p>
          <a:p>
            <a:r>
              <a:t>El CentOS que muchos conocieron YA NO EXISTE. Aquel CentOS Linux era RHEL gratis, y Red Hat lo discontinuó. CentOS Linux 7 quedó sin parches de seguridad el 30 de junio de 2024.</a:t>
            </a:r>
          </a:p>
          <a:p/>
          <a:p>
            <a:r>
              <a:t>Preguntales directamente: ¿tienen servidores con CentOS 7 en la institución? Si dicen que sí, eso significa que están sin parches desde hace más de un año. Es información que les sirve de verdad.</a:t>
            </a:r>
          </a:p>
          <a:p/>
          <a:p>
            <a:r>
              <a:t>Rocky y Alma nacieron en 2021 justo para llenar ese hueco. Todo lo del curso funciona igual en ellas, salvo el registro de suscripción que vamos a hacer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CICLO DE VIDA (3 min)</a:t>
            </a:r>
          </a:p>
          <a:p/>
          <a:p>
            <a:r>
              <a:t>RHEL 9 salió en mayo de 2022. Cada seis meses sale una versión menor: 9.0, 9.1, y así hasta la 9.8 que vamos a instalar hoy.</a:t>
            </a:r>
          </a:p>
          <a:p/>
          <a:p>
            <a:r>
              <a:t>Las tres fases de la tabla:</a:t>
            </a:r>
          </a:p>
          <a:p>
            <a:r>
              <a:t>- Full Support hasta mayo de 2027: parches, soporte de hardware nuevo y funcionalidades nuevas.</a:t>
            </a:r>
          </a:p>
          <a:p>
            <a:r>
              <a:t>- Maintenance Support hasta mayo de 2032: solo parches de seguridad y correcciones críticas. Nada nuevo.</a:t>
            </a:r>
          </a:p>
          <a:p>
            <a:r>
              <a:t>- Extended Life Cycle hasta 2035: se paga aparte y solo trae parches críticos.</a:t>
            </a:r>
          </a:p>
          <a:p/>
          <a:p>
            <a:r>
              <a:t>Diez años de soporte es LA razón por la que una institución paga por RHEL en lugar de usar algo gratis.</a:t>
            </a:r>
          </a:p>
          <a:p/>
          <a:p>
            <a:r>
              <a:t>Ahora, qué significa "soporte" en concreto, que es lo que aparece abajo:</a:t>
            </a:r>
          </a:p>
          <a:p/>
          <a:p>
            <a:r>
              <a:t>1. Repositorios con parches firmados y trazables. Cada corrección de seguridad tiene su identificador CVE y su boletín. Si un auditor pregunta "¿está parcheado contra esta vulnerabilidad?", hay un registro que lo demuestra.</a:t>
            </a:r>
          </a:p>
          <a:p/>
          <a:p>
            <a:r>
              <a:t>2. Derecho a abrir casos con ingenieros de Red Hat. Si algo falla y no sabés por qué, hay a quién llamar.</a:t>
            </a:r>
          </a:p>
          <a:p/>
          <a:p>
            <a:r>
              <a:t>3. Certificación de hardware y software de terceros. El fabricante de la base de datos o del sistema de respaldo garantiza que funciona sobre RHEL.</a:t>
            </a:r>
          </a:p>
          <a:p/>
          <a:p>
            <a:r>
              <a:t>Para una entidad pública, el punto 1 y el 3 son los que sostienen una auditoría. Ese es el argumento que les sirve si algún día tienen que justificar el gasto.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UNA SUSCRIPCIÓN (3 min)</a:t>
            </a:r>
          </a:p>
          <a:p/>
          <a:p>
            <a:r>
              <a:t>RHEL no se compra con licencia: se suscribe. Pagás por un año de acceso a contenido y soporte, y se renueva.</a:t>
            </a:r>
          </a:p>
          <a:p/>
          <a:p>
            <a:r>
              <a:t>Qué pasa si no registrás el sistema: arranca y funciona perfectamente, pero dnf no tiene de dónde bajar paquetes. O sea, no podés instalar ni actualizar nada. El sistema queda congelado.</a:t>
            </a:r>
          </a:p>
          <a:p/>
          <a:p>
            <a:r>
              <a:t>Nosotros vamos a usar la Red Hat Developer Subscription for Individuals: es gratuita, permite hasta 16 sistemas, y es para desarrollo y pruebas. NO para producción. Se renueva cada año volviendo a aceptar los términos.</a:t>
            </a:r>
          </a:p>
          <a:p/>
          <a:p>
            <a:r>
              <a:t>EL DETALLE DE LA CAJA ROJA, este les va a ahorrar dolores de cabeza:</a:t>
            </a:r>
          </a:p>
          <a:p/>
          <a:p>
            <a:r>
              <a:t>Las cuentas de hoy usan Simple Content Access. Antes había que hacer dos pasos: registrar el sistema Y "adjuntar" una suscripción con el comando attach. Hoy basta con registrar; el acceso al contenido lo da la cuenta.</a:t>
            </a:r>
          </a:p>
          <a:p/>
          <a:p>
            <a:r>
              <a:t>Si encuentran un tutorial que dice "subscription-manager attach --auto", ese tutorial es viejo y ese paso ya no aplica. Van a ver muchos así en internet.</a:t>
            </a:r>
          </a:p>
          <a:p/>
          <a:p>
            <a:r>
              <a:t>Anticipá: en un rato, cuando registremos las máquinas, van a ver esto en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SISTEMA (3 min)</a:t>
            </a:r>
          </a:p>
          <a:p/>
          <a:p>
            <a:r>
              <a:t>Esta lámina es un mapa. Se lee de abajo hacia arriba, y sirve para ubicar todo lo que vamos a ver en las 40 horas.</a:t>
            </a:r>
          </a:p>
          <a:p/>
          <a:p>
            <a:r>
              <a:t>ABAJO DEL TODO: el hardware. En nuestro caso es hardware virtual, que se lo inventa el hipervisor: un procesador, memoria, un disco y una tarjeta de red que no existen físicamente.</a:t>
            </a:r>
          </a:p>
          <a:p/>
          <a:p>
            <a:r>
              <a:t>ENCIMA: el kernel. Es el único que habla con el hardware. Se encarga de los procesos (Jornada 4), de la memoria, del sistema de archivos (Jornada 6), de la red (Jornada 5) y de SELinux (Jornada 8). Fíjense que casi todo el curso vive en esta capa.</a:t>
            </a:r>
          </a:p>
          <a:p/>
          <a:p>
            <a:r>
              <a:t>ENCIMA: systemd y los servicios. systemd es el PRIMER programa que el kernel arranca, y por eso se le llama PID 1, el proceso número uno. Su trabajo es levantar todo lo demás en el orden correcto: la red, el SSH, la hora, el firewall. Cuando en la Jornada 4 usemos el comando systemctl, le vamos a estar hablando a esta capa.</a:t>
            </a:r>
          </a:p>
          <a:p/>
          <a:p>
            <a:r>
              <a:t>ARRIBA DEL TODO: las aplicaciones y la shell. Ahí es donde trabajamos nosotros. bash, vim, dnf, ssh.</a:t>
            </a:r>
          </a:p>
          <a:p/>
          <a:p>
            <a:r>
              <a:t>LA IDEA CLAVE, que es lo que quiero que se lleven:</a:t>
            </a:r>
          </a:p>
          <a:p>
            <a:r>
              <a:t>El usuario nunca le habla al kernel directamente. Ustedes le hablan a la SHELL. La shell interpreta lo que escribieron y lanza un programa. Y ese programa le pide cosas al kernel: abrí este archivo, mandá este paquete por la red.</a:t>
            </a:r>
          </a:p>
          <a:p/>
          <a:p>
            <a:r>
              <a:t>Si quieren un ejemplo concreto: cuando escriben "ls", la shell busca el programa ls, lo ejecuta, y ls le pregunta al kernel qué archivos hay en esta carpeta. El kernel lee el disco y le contesta. Tres capas para listar una carpeta.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MÁQUINA VIRTUAL E HIPERVISOR (3 min)</a:t>
            </a:r>
          </a:p>
          <a:p/>
          <a:p>
            <a:r>
              <a:t>Una máquina virtual es una computadora simulada por software. Tiene su propio procesador, su memoria, su disco y su tarjeta de red, todos virtuales. Y adentro corre un sistema operativo completo que cree estar en una máquina real. No sabe que es virtual.</a:t>
            </a:r>
          </a:p>
          <a:p/>
          <a:p>
            <a:r>
              <a:t>El hipervisor es el programa que la ejecuta y que le inventa ese hardware.</a:t>
            </a:r>
          </a:p>
          <a:p/>
          <a:p>
            <a:r>
              <a:t>Hay dos tipos:</a:t>
            </a:r>
          </a:p>
          <a:p/>
          <a:p>
            <a:r>
              <a:t>TIPO 1, sobre el hardware directo, sin sistema operativo debajo. VMware ESXi, Microsoft Hyper-V, y KVM que es el hipervisor de Linux. Esto es lo que hay en un centro de datos. Si la institución tiene servidores virtualizados, casi seguro es alguno de estos.</a:t>
            </a:r>
          </a:p>
          <a:p/>
          <a:p>
            <a:r>
              <a:t>TIPO 2, encima de tu sistema de escritorio. VirtualBox, UTM, VMware Fusion. Es lo que vamos a usar nosotros.</a:t>
            </a:r>
          </a:p>
          <a:p/>
          <a:p>
            <a:r>
              <a:t>Los conceptos son idénticos en los dos. Lo que aprendan administrando esta máquina virtual se administra igual en un servidor de producción.</a:t>
            </a:r>
          </a:p>
          <a:p/>
          <a:p>
            <a:r>
              <a:t>Y la ventaja práctica para el curso: podemos romper cosas sin consecuencias. De hecho vamos a romperlas a propósito varias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 Y SNAPSHOT (2 min)</a:t>
            </a:r>
          </a:p>
          <a:p/>
          <a:p>
            <a:r>
              <a:t>UNA ISO es la imagen de un DVD de instalación, empaquetada en un solo archivo. Es literalmente lo que estaría grabado en el disco físico.</a:t>
            </a:r>
          </a:p>
          <a:p/>
          <a:p>
            <a:r>
              <a:t>En una máquina virtual no hay lector de DVD, así que la ISO se "inserta" en una unidad óptica virtual, y la máquina arranca desde ahí igual que arrancaría desde un DVD real.</a:t>
            </a:r>
          </a:p>
          <a:p/>
          <a:p>
            <a:r>
              <a:t>Detalle práctico: al terminar la instalación hay que sacar esa ISO, o la máquina vuelve a arrancar el instalador. Nos va a pasar hoy.</a:t>
            </a:r>
          </a:p>
          <a:p/>
          <a:p>
            <a:r>
              <a:t>UN SNAPSHOT es una foto del estado completo de la máquina: el disco, la memoria y la configuración, todo en el momento en que la tomaron. Restaurarla devuelve la máquina exactamente a como estaba, deshaciendo todo lo que pasó después.</a:t>
            </a:r>
          </a:p>
          <a:p/>
          <a:p>
            <a:r>
              <a:t>No es un comando de Linux. Lo hace el hipervisor desde afuera; el servidor ni se entera.</a:t>
            </a:r>
          </a:p>
          <a:p/>
          <a:p>
            <a:r>
              <a:t>INSISTAN EN ESTO, es importante:</a:t>
            </a:r>
          </a:p>
          <a:p>
            <a:r>
              <a:t>Vamos a tomar un snapshot al final de cada jornada. Es la red de seguridad del curso. Si algo queda roto, se restaura el del día anterior y seguimos.</a:t>
            </a:r>
          </a:p>
          <a:p/>
          <a:p>
            <a:r>
              <a:t>El que no lo tome lo va a lamentar en la Jornada 6, cuando toquemos discos, o en la 10, cuando rompamos el arranque a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¿Y RHEL 10? (2 min)</a:t>
            </a:r>
          </a:p>
          <a:p/>
          <a:p>
            <a:r>
              <a:t>Salió en mayo de 2025, con kernel 6.12. O sea que ya existe y alguno se va a preguntar por qué no la usamos.</a:t>
            </a:r>
          </a:p>
          <a:p/>
          <a:p>
            <a:r>
              <a:t>Novedades principales:</a:t>
            </a:r>
          </a:p>
          <a:p>
            <a:r>
              <a:t>- Exige procesadores relativamente modernos, posteriores a 2013 aproximadamente. Esto es lo más importante para ustedes: si piensan migrar, lo primero es revisar el inventario de servidores, porque los viejos simplemente no arrancan.</a:t>
            </a:r>
          </a:p>
          <a:p>
            <a:r>
              <a:t>- Image mode: se puede construir y desplegar el sistema operativo como si fuera un contenedor. Cambia bastante cómo se actualiza una flota grande.</a:t>
            </a:r>
          </a:p>
          <a:p>
            <a:r>
              <a:t>- Criptografía post-cuántica: es la primera distribución empresarial que la trae de fábrica. Para una fiscalía, con datos que deben seguir siendo confidenciales dentro de veinte años, es un argumento serio.</a:t>
            </a:r>
          </a:p>
          <a:p>
            <a:r>
              <a:t>- DNF 5, una versión nueva del gestor de paquetes.</a:t>
            </a:r>
          </a:p>
          <a:p/>
          <a:p>
            <a:r>
              <a:t>POR QUÉ USAMOS LA 9:</a:t>
            </a:r>
          </a:p>
          <a:p>
            <a:r>
              <a:t>1. Es lo que hay en producción en la mayoría de instituciones. Es lo que van a administrar de verdad.</a:t>
            </a:r>
          </a:p>
          <a:p>
            <a:r>
              <a:t>2. Su documentación, sus foros y su base de conocimiento están maduros. Cuando busquen un error, van a encontrar respuestas.</a:t>
            </a:r>
          </a:p>
          <a:p>
            <a:r>
              <a:t>3. El examen RHCSA se rinde sobre RHEL 9.</a:t>
            </a:r>
          </a:p>
          <a:p/>
          <a:p>
            <a:r>
              <a:t>Y LO MÁS IMPORTANTE, la caja de abajo:</a:t>
            </a:r>
          </a:p>
          <a:p>
            <a:r>
              <a:t>dnf, systemd, firewalld, SELinux, LVM y Podman son idénticos en la 10. Todo lo que aprendan estas 40 horas les sirve completo. No están aprendiendo algo que va a quedar obsoleto.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VAMOS A HACER HOY (2 min)</a:t>
            </a:r>
          </a:p>
          <a:p/>
          <a:p>
            <a:r>
              <a:t>Repasá los seis pasos rápido, para que sepan hacia dónde van:</a:t>
            </a:r>
          </a:p>
          <a:p/>
          <a:p>
            <a:r>
              <a:t>1. Crear la máquina virtual: le decimos al hipervisor cuánta memoria, cuánto disco y qué red le damos.</a:t>
            </a:r>
          </a:p>
          <a:p>
            <a:r>
              <a:t>2. Instalar RHEL 9 sin escritorio. Ojo con esto: NO vamos a instalar entorno gráfico. Un servidor real no lo lleva, consume recursos y amplía la superficie de ataque. Todo el curso es por terminal.</a:t>
            </a:r>
          </a:p>
          <a:p>
            <a:r>
              <a:t>3. Registrarla y actualizarla: conectarla a los repositorios de Red Hat y ponerla al día.</a:t>
            </a:r>
          </a:p>
          <a:p>
            <a:r>
              <a:t>4. Conectarse por SSH desde su propia máquina, que es como se administra un servidor de verdad.</a:t>
            </a:r>
          </a:p>
          <a:p>
            <a:r>
              <a:t>5. Primeros comandos: quiénes son, qué máquina es, cómo pedir ayuda.</a:t>
            </a:r>
          </a:p>
          <a:p>
            <a:r>
              <a:t>6. Tomar el snapshot.</a:t>
            </a:r>
          </a:p>
          <a:p/>
          <a:p>
            <a:r>
              <a:t>EL CIERRE, decilo así:</a:t>
            </a:r>
          </a:p>
          <a:p>
            <a:r>
              <a:t>Al final del día cada uno se va con un servidor Red Hat funcionando, registrado y accesible desde su propia computadora. Ese servidor es el que vamos a usar las 40 horas. Lo que construyamos hoy sigue vivo el día 10, cuando les vaya a romper todo a propósito para que lo arreglen.</a:t>
            </a:r>
          </a:p>
          <a:p/>
          <a:p>
            <a:r>
              <a:t>Y ahora sí, manos a la 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Red Hat System Administration I y II</a:t>
            </a:r>
          </a:p>
          <a:p>
            <a:pPr>
              <a:spcBef>
                <a:spcPts val="1800"/>
              </a:spcBef>
              <a:defRPr sz="2100">
                <a:solidFill>
                  <a:srgbClr val="C8C8C8"/>
                </a:solidFill>
                <a:latin typeface="Helvetica Neue"/>
              </a:defRPr>
            </a:pPr>
            <a:r>
              <a:t>40 horas  ·  10 jornadas  ·  Red Hat Enterprise Linux 9</a:t>
            </a:r>
          </a:p>
          <a:p>
            <a:pPr>
              <a:spcBef>
                <a:spcPts val="1000"/>
              </a:spcBef>
              <a:defRPr sz="1700">
                <a:solidFill>
                  <a:srgbClr val="8A8A8A"/>
                </a:solidFill>
                <a:latin typeface="Helvetica Neue"/>
              </a:defRPr>
            </a:pPr>
            <a:r>
              <a:t>Procuraduría General de la Nación  —  Dirección de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Qué es Linux, en sentido estricto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51515"/>
                </a:solidFill>
                <a:latin typeface="Helvetica Neue"/>
              </a:defRPr>
            </a:pPr>
            <a:r>
              <a:t>•  Linux es el kernel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Es el programa que arranca primero y habla con el hardware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Reparte CPU, memoria, disco y red entre los demás programas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Lo empezó Linus Torvalds en 1991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Un kernel solo no sirve: no trae ni un comando para listar archivos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GNU/Linux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51515"/>
                </a:solidFill>
                <a:latin typeface="Helvetica Neue"/>
              </a:defRPr>
            </a:pPr>
            <a:r>
              <a:t>•  Kernel Linux  +  herramientas GNU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ls, cp, grep, bash, compilador, bibliotecas: todo eso es GNU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Proyecto GNU: 1983, Richard Stallman. Anterior a Linux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Por eso el nombre correcto del conjunto es GNU/Linux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Qué es una distribución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Kernel + herramientas + gestor de paquetes + instalador + soporte</a:t>
            </a:r>
          </a:p>
          <a:p>
            <a:pPr>
              <a:spcAft>
                <a:spcPts val="1400"/>
              </a:spcAft>
              <a:defRPr sz="2000" b="1">
                <a:solidFill>
                  <a:srgbClr val="151515"/>
                </a:solidFill>
                <a:latin typeface="Helvetica Neue"/>
              </a:defRPr>
            </a:pPr>
            <a:r>
              <a:t>•  El kernel es el motor. La distribución es el auto completo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794760"/>
            <a:ext cx="28346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1515"/>
                </a:solidFill>
                <a:latin typeface="Helvetica Neue"/>
              </a:defRPr>
            </a:pPr>
            <a:r>
              <a:t>Debian / Ubuntu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4983480"/>
            <a:ext cx="1280160" cy="566928"/>
          </a:xfrm>
          <a:prstGeom prst="roundRect">
            <a:avLst/>
          </a:prstGeom>
          <a:solidFill>
            <a:srgbClr val="CC0000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apt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794760"/>
            <a:ext cx="28346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1515"/>
                </a:solidFill>
                <a:latin typeface="Helvetica Neue"/>
              </a:defRPr>
            </a:pPr>
            <a:r>
              <a:t>Red Hat / Fedora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79" y="4983480"/>
            <a:ext cx="1280160" cy="566928"/>
          </a:xfrm>
          <a:prstGeom prst="roundRect">
            <a:avLst/>
          </a:prstGeom>
          <a:solidFill>
            <a:srgbClr val="CC0000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dnf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94760"/>
            <a:ext cx="28346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1515"/>
                </a:solidFill>
                <a:latin typeface="Helvetica Neue"/>
              </a:defRPr>
            </a:pPr>
            <a:r>
              <a:t>SUSE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983480"/>
            <a:ext cx="1280160" cy="566928"/>
          </a:xfrm>
          <a:prstGeom prst="roundRect">
            <a:avLst/>
          </a:prstGeom>
          <a:solidFill>
            <a:srgbClr val="CC0000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zypper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La familia Red 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246888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51515"/>
                </a:solidFill>
                <a:latin typeface="Helvetica Neue"/>
              </a:defRPr>
            </a:pPr>
            <a:r>
              <a:t>Fedora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laboratorio</a:t>
            </a:r>
          </a:p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nueva cada 6 meses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64408" y="2834640"/>
            <a:ext cx="411480" cy="274320"/>
          </a:xfrm>
          <a:prstGeom prst="rightArrow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46888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51515"/>
                </a:solidFill>
                <a:latin typeface="Helvetica Neue"/>
              </a:defRPr>
            </a:pPr>
            <a:r>
              <a:t>CentOS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vista previa de</a:t>
            </a:r>
          </a:p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la próxima RHEL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44768" y="2834640"/>
            <a:ext cx="411480" cy="274320"/>
          </a:xfrm>
          <a:prstGeom prst="rightArrow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286000"/>
            <a:ext cx="2468880" cy="1371600"/>
          </a:xfrm>
          <a:prstGeom prst="roundRect">
            <a:avLst/>
          </a:prstGeom>
          <a:solidFill>
            <a:srgbClr val="CC0000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RHEL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el producto</a:t>
            </a:r>
          </a:p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10 años de soporte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25128" y="2834640"/>
            <a:ext cx="411480" cy="274320"/>
          </a:xfrm>
          <a:prstGeom prst="rightArrow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2286000"/>
            <a:ext cx="246888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51515"/>
                </a:solidFill>
                <a:latin typeface="Helvetica Neue"/>
              </a:defRPr>
            </a:pPr>
            <a:r>
              <a:t>Rocky / 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reconstrucciones</a:t>
            </a:r>
          </a:p>
          <a:p>
            <a:pPr algn="ctr">
              <a:defRPr sz="1300">
                <a:solidFill>
                  <a:srgbClr val="5A5A5A"/>
                </a:solidFill>
                <a:latin typeface="Helvetica Neue"/>
              </a:defRPr>
            </a:pPr>
            <a:r>
              <a:t>gratis, sin soporte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C0000"/>
                </a:solidFill>
                <a:latin typeface="Helvetica Neue"/>
              </a:defRPr>
            </a:pPr>
            <a:r>
              <a:t>CentOS Linux 7 quedó sin parches de seguridad el 30 de junio de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Ciclo de vida de RHEL 9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Helvetica Neue"/>
              </a:defRPr>
            </a:pPr>
            <a:r>
              <a:t>Salió en mayo de 2022. Una versión menor cada 6 meses: 9.0 … 9.8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548640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Hasta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Qué incluye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Full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mayo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Parches, hardware nuevo, funcionalidades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Maintenance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mayo 2032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Parches de seguridad y correcciones críticas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Extended Life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~2035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51515"/>
                          </a:solidFill>
                          <a:latin typeface="Helvetica Neue"/>
                        </a:defRPr>
                      </a:pPr>
                      <a:r>
                        <a:t>Solo parches críticos. Complemento de pago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51515"/>
                </a:solidFill>
                <a:latin typeface="Helvetica Neue"/>
              </a:defRPr>
            </a:pPr>
            <a:r>
              <a:t>Soporte significa tres cosas concretas:</a:t>
            </a:r>
          </a:p>
          <a:p>
            <a:pPr>
              <a:defRPr sz="1500">
                <a:solidFill>
                  <a:srgbClr val="5A5A5A"/>
                </a:solidFill>
                <a:latin typeface="Helvetica Neue"/>
              </a:defRPr>
            </a:pPr>
            <a:r>
              <a:t>•  Repositorios con parches firmados y trazables (cada corrección tiene su CVE)</a:t>
            </a:r>
          </a:p>
          <a:p>
            <a:pPr>
              <a:defRPr sz="1500">
                <a:solidFill>
                  <a:srgbClr val="5A5A5A"/>
                </a:solidFill>
                <a:latin typeface="Helvetica Neue"/>
              </a:defRPr>
            </a:pPr>
            <a:r>
              <a:t>•  Derecho a abrir casos con ingenieros de Red Hat</a:t>
            </a:r>
          </a:p>
          <a:p>
            <a:pPr>
              <a:defRPr sz="1500">
                <a:solidFill>
                  <a:srgbClr val="5A5A5A"/>
                </a:solidFill>
                <a:latin typeface="Helvetica Neue"/>
              </a:defRPr>
            </a:pPr>
            <a:r>
              <a:t>•  Certificación de hardware y software de terceros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Qué es una suscripción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51515"/>
                </a:solidFill>
                <a:latin typeface="Helvetica Neue"/>
              </a:defRPr>
            </a:pPr>
            <a:r>
              <a:t>•  RHEL no se compra: se suscribe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Da acceso a los repositorios y al soporte por un año renovable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Sin suscripción el sistema arranca y funciona, pero dnf no baja nada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Nosotros usamos la Developer Subscription: gratis, hasta 16 sistemas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Solo para desarrollo y pruebas, no para producción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10515600" cy="1005840"/>
          </a:xfrm>
          <a:prstGeom prst="roundRect">
            <a:avLst/>
          </a:prstGeom>
          <a:solidFill>
            <a:srgbClr val="FFF4F4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51515"/>
                </a:solidFill>
                <a:latin typeface="Helvetica Neue"/>
              </a:defRPr>
            </a:pPr>
            <a:r>
              <a:t>Hoy las cuentas usan Simple Content Access: basta con registrar el sistema.</a:t>
            </a:r>
            <a:br/>
            <a:r>
              <a:t>Si un tutorial dice  subscription-manager attach --auto,  ese paso ya no aplica.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Arquitectura de un sistema Linux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8412480" cy="822960"/>
          </a:xfrm>
          <a:prstGeom prst="roundRect">
            <a:avLst/>
          </a:prstGeom>
          <a:solidFill>
            <a:srgbClr val="FFE8E8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Aplicaciones y shell:  bash, vim, dnf, ssh, httpd…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35000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◀  aquí trabajamos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8412480" cy="822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systemd (PID 1) y servicios:  sshd, NetworkManager, firewalld…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8412480" cy="822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Kernel:  procesos, memoria, sistema de archivos, red, SELinux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8412480" cy="822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Hardware real, o hardware virtual del hipervisor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Máquina virtual e hipervisor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51515"/>
                </a:solidFill>
                <a:latin typeface="Helvetica Neue"/>
              </a:defRPr>
            </a:pPr>
            <a:r>
              <a:t>•  Una VM es una computadora simulada por software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Tiene su propia CPU, RAM, disco y tarjeta de red virtuales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El sistema de adentro cree que está en hardware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5029200" cy="17373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Hipervisor tipo 1</a:t>
            </a:r>
            <a:br/>
            <a:r>
              <a:t>sobre el hardware</a:t>
            </a:r>
            <a:br/>
            <a:br/>
            <a:r>
              <a:t>VMware ESXi · Hyper-V · KVM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5029200" cy="1737360"/>
          </a:xfrm>
          <a:prstGeom prst="roundRect">
            <a:avLst/>
          </a:prstGeom>
          <a:solidFill>
            <a:srgbClr val="FFE8E8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Hipervisor tipo 2</a:t>
            </a:r>
            <a:br/>
            <a:r>
              <a:t>sobre tu escritorio</a:t>
            </a:r>
            <a:br/>
            <a:br/>
            <a:r>
              <a:t>VirtualBox · UTM · VMware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532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Helvetica Neue"/>
              </a:defRPr>
            </a:pPr>
            <a:r>
              <a:t>◀  el que usamos en el curso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ISO y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029200" cy="23774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ISO</a:t>
            </a:r>
            <a:br/>
            <a:br/>
            <a:r>
              <a:t>La imagen de un DVD de instalación</a:t>
            </a:r>
            <a:br/>
            <a:r>
              <a:t>en un solo archivo.</a:t>
            </a:r>
            <a:br/>
            <a:br/>
            <a:r>
              <a:t>Se inserta en la unidad óptica</a:t>
            </a:r>
            <a:br/>
            <a:r>
              <a:t>virtual y la VM arranca desde ella.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94560"/>
            <a:ext cx="5029200" cy="2377440"/>
          </a:xfrm>
          <a:prstGeom prst="roundRect">
            <a:avLst/>
          </a:prstGeom>
          <a:solidFill>
            <a:srgbClr val="FFE8E8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51515"/>
                </a:solidFill>
                <a:latin typeface="Helvetica Neue"/>
              </a:defRPr>
            </a:pPr>
            <a:r>
              <a:t>SNAPSHOT</a:t>
            </a:r>
            <a:br/>
            <a:br/>
            <a:r>
              <a:t>Una foto del estado completo</a:t>
            </a:r>
            <a:br/>
            <a:r>
              <a:t>de la máquina virtual.</a:t>
            </a:r>
            <a:br/>
            <a:br/>
            <a:r>
              <a:t>Permite romper el sistema</a:t>
            </a:r>
            <a:br/>
            <a:r>
              <a:t>y volver atrás en segundos.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515"/>
                </a:solidFill>
                <a:latin typeface="Helvetica Neue"/>
              </a:defRPr>
            </a:pPr>
            <a:r>
              <a:t>Tomamos un snapshot al final de cada jornada. Es la red de seguridad del curso.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¿Y RHEL 10?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Helvetica Neue"/>
              </a:defRPr>
            </a:pPr>
            <a:r>
              <a:t>Salió en mayo de 2025, con kernel 6.12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Exige procesadores modernos: x86-64-v3, posteriores a 2013 aproximadamente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Novedades: image mode, criptografía post-cuántica, DNF 5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Usamos la 9 porque es lo que hay en producción y su documentación está madura</a:t>
            </a:r>
          </a:p>
          <a:p>
            <a:pPr>
              <a:spcAft>
                <a:spcPts val="1400"/>
              </a:spcAft>
              <a:defRPr sz="2000" b="0">
                <a:solidFill>
                  <a:srgbClr val="151515"/>
                </a:solidFill>
                <a:latin typeface="Helvetica Neue"/>
              </a:defRPr>
            </a:pPr>
            <a:r>
              <a:t>•  El examen RHCSA se rinde sobre RHEL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37760"/>
            <a:ext cx="10515600" cy="914400"/>
          </a:xfrm>
          <a:prstGeom prst="roundRect">
            <a:avLst/>
          </a:prstGeom>
          <a:solidFill>
            <a:srgbClr val="FFE8E8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1515"/>
                </a:solidFill>
                <a:latin typeface="Helvetica Neue"/>
              </a:defRPr>
            </a:pPr>
            <a:r>
              <a:t>dnf, systemd, firewalld, SELinux, LVM y Podman son idénticos en RHEL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51515"/>
                </a:solidFill>
                <a:latin typeface="Helvetica Neue"/>
              </a:defRPr>
            </a:pPr>
            <a:r>
              <a:t>Qué vamos a hacer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0" cy="50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23957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Crear la máquina virtual</a:t>
            </a:r>
          </a:p>
        </p:txBody>
      </p:sp>
      <p:sp>
        <p:nvSpPr>
          <p:cNvPr id="6" name="Oval 5"/>
          <p:cNvSpPr/>
          <p:nvPr/>
        </p:nvSpPr>
        <p:spPr>
          <a:xfrm>
            <a:off x="4434840" y="2377440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072" y="23957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Instalar RHEL 9 sin escritorio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2377440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23957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Registrarla y actualizarla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77639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995927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Conectarse por SSH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3977639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3995927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Primeros comandos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977639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995927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51515"/>
                </a:solidFill>
                <a:latin typeface="Helvetica Neue"/>
              </a:defRPr>
            </a:pPr>
            <a:r>
              <a:t>Tomar el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C0000"/>
                </a:solidFill>
                <a:latin typeface="Helvetica Neue"/>
              </a:defRPr>
            </a:pPr>
            <a:r>
              <a:t>Al final del día: un servidor Red Hat funcionando, registrado y accesible desde su propia máquina.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